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-6" y="-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2198307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6985" y="1884422"/>
            <a:ext cx="6245291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Problem Statement ID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– Self chosen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Problem Statement </a:t>
            </a:r>
            <a:r>
              <a:rPr lang="en-US" sz="20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Title-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Digital Footprints And </a:t>
            </a:r>
          </a:p>
          <a:p>
            <a:pPr algn="just">
              <a:lnSpc>
                <a:spcPct val="200000"/>
              </a:lnSpc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Privacy Exposure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Theme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Cybersecurity/ miscellaneous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PS Category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u="sng" dirty="0">
                <a:latin typeface="Arial" panose="020B0604020202020204" pitchFamily="34" charset="0"/>
                <a:cs typeface="Arial" panose="020B0604020202020204" pitchFamily="34" charset="0"/>
              </a:rPr>
              <a:t>Team Name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– Bro code 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80060" y="1423333"/>
            <a:ext cx="11064239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</a:t>
            </a:r>
            <a:r>
              <a:rPr lang="en-US" sz="2000" b="1" u="sng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Solution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b="1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GB" sz="2000" dirty="0" err="1"/>
              <a:t>LockLens</a:t>
            </a:r>
            <a:r>
              <a:rPr lang="en-GB" sz="2000" dirty="0"/>
              <a:t> is a privacy-first browser extension that helps users understand potential personal-data exposure while browsing</a:t>
            </a:r>
            <a:r>
              <a:rPr lang="en-GB" sz="2000" dirty="0" smtClean="0"/>
              <a:t>.</a:t>
            </a:r>
          </a:p>
          <a:p>
            <a:endParaRPr lang="en-GB" sz="2000" dirty="0">
              <a:latin typeface="Arial" pitchFamily="34" charset="0"/>
              <a:cs typeface="Arial" pitchFamily="34" charset="0"/>
            </a:endParaRPr>
          </a:p>
          <a:p>
            <a:r>
              <a:rPr lang="en-IN" sz="2000" b="1" dirty="0"/>
              <a:t>How it works</a:t>
            </a:r>
          </a:p>
          <a:p>
            <a:r>
              <a:rPr lang="en-IN" sz="2000" b="1" dirty="0"/>
              <a:t>🔍 Detect → 📊 Assess → 🛡️ Warn → 📈 </a:t>
            </a:r>
            <a:r>
              <a:rPr lang="en-IN" sz="2000" b="1" dirty="0" smtClean="0"/>
              <a:t>Track</a:t>
            </a:r>
          </a:p>
          <a:p>
            <a:endParaRPr lang="en-IN" sz="2000" dirty="0"/>
          </a:p>
          <a:p>
            <a:r>
              <a:rPr lang="en-IN" sz="2000" dirty="0"/>
              <a:t>Detects privacy-related signals from webpage content and form structures. </a:t>
            </a:r>
          </a:p>
          <a:p>
            <a:r>
              <a:rPr lang="en-IN" sz="2000" dirty="0"/>
              <a:t>Identifies categories such as </a:t>
            </a:r>
            <a:r>
              <a:rPr lang="en-IN" sz="2000" b="1" dirty="0"/>
              <a:t>Name, Email, Phone, Address, Personal Date and Password fields</a:t>
            </a:r>
            <a:r>
              <a:rPr lang="en-IN" sz="2000" dirty="0"/>
              <a:t>. </a:t>
            </a:r>
          </a:p>
          <a:p>
            <a:r>
              <a:rPr lang="en-IN" sz="2000" dirty="0"/>
              <a:t>Uses a transparent </a:t>
            </a:r>
            <a:r>
              <a:rPr lang="en-IN" sz="2000" b="1" dirty="0"/>
              <a:t>weighted Risk Engine</a:t>
            </a:r>
            <a:r>
              <a:rPr lang="en-IN" sz="2000" dirty="0"/>
              <a:t> to calculate privacy exposure. </a:t>
            </a:r>
            <a:endParaRPr lang="en-IN" sz="2000" dirty="0" smtClean="0"/>
          </a:p>
          <a:p>
            <a:endParaRPr lang="en-IN" sz="2000" dirty="0"/>
          </a:p>
          <a:p>
            <a:r>
              <a:rPr lang="en-IN" sz="2000" b="1" dirty="0"/>
              <a:t>Privacy Guard warns users before sensitive information is submitted.</a:t>
            </a:r>
            <a:r>
              <a:rPr lang="en-IN" sz="2000" dirty="0"/>
              <a:t> </a:t>
            </a:r>
          </a:p>
          <a:p>
            <a:r>
              <a:rPr lang="en-IN" sz="2000" dirty="0"/>
              <a:t>Maintains a privacy-safe </a:t>
            </a:r>
            <a:r>
              <a:rPr lang="en-IN" sz="2000" b="1" dirty="0"/>
              <a:t>Personal Exposure Timeline</a:t>
            </a:r>
            <a:r>
              <a:rPr lang="en-IN" sz="2000" dirty="0"/>
              <a:t> using minimal local metadata</a:t>
            </a:r>
            <a:r>
              <a:rPr lang="en-IN" sz="2000" dirty="0" smtClean="0"/>
              <a:t>.</a:t>
            </a:r>
            <a:endParaRPr lang="en-IN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43368"/>
            <a:ext cx="137474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BroCode</a:t>
            </a:r>
            <a:endParaRPr lang="en-IN" sz="1600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20980" y="9787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23044" y="1569150"/>
            <a:ext cx="2513119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US" sz="1000" b="1" dirty="0">
                <a:latin typeface="Arial" pitchFamily="34" charset="0"/>
                <a:cs typeface="Arial" pitchFamily="34" charset="0"/>
              </a:rPr>
              <a:t>USER VISITS WEBPAGE</a:t>
            </a:r>
          </a:p>
          <a:p>
            <a:pPr algn="just"/>
            <a:r>
              <a:rPr lang="en-US" sz="1000" b="1" dirty="0">
                <a:latin typeface="Arial" pitchFamily="34" charset="0"/>
                <a:cs typeface="Arial" pitchFamily="34" charset="0"/>
              </a:rPr>
              <a:t>                 ↓</a:t>
            </a:r>
          </a:p>
          <a:p>
            <a:pPr algn="just"/>
            <a:r>
              <a:rPr lang="en-US" sz="1000" b="1" dirty="0">
                <a:latin typeface="Arial" pitchFamily="34" charset="0"/>
                <a:cs typeface="Arial" pitchFamily="34" charset="0"/>
              </a:rPr>
              <a:t>        ┌─────────────────┐</a:t>
            </a:r>
          </a:p>
          <a:p>
            <a:pPr algn="just"/>
            <a:r>
              <a:rPr lang="en-US" sz="1000" b="1" dirty="0">
                <a:latin typeface="Arial" pitchFamily="34" charset="0"/>
                <a:cs typeface="Arial" pitchFamily="34" charset="0"/>
              </a:rPr>
              <a:t>        │  LOCKLENS       </a:t>
            </a:r>
          </a:p>
          <a:p>
            <a:pPr algn="just"/>
            <a:r>
              <a:rPr lang="en-US" sz="1000" b="1" dirty="0">
                <a:latin typeface="Arial" pitchFamily="34" charset="0"/>
                <a:cs typeface="Arial" pitchFamily="34" charset="0"/>
              </a:rPr>
              <a:t>        │  SCANNER      </a:t>
            </a:r>
            <a:r>
              <a:rPr lang="en-US" sz="1000" b="1" dirty="0" smtClean="0">
                <a:latin typeface="Arial" pitchFamily="34" charset="0"/>
                <a:cs typeface="Arial" pitchFamily="34" charset="0"/>
              </a:rPr>
              <a:t>   </a:t>
            </a:r>
            <a:endParaRPr lang="en-US" sz="1000" b="1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1000" b="1" dirty="0">
                <a:latin typeface="Arial" pitchFamily="34" charset="0"/>
                <a:cs typeface="Arial" pitchFamily="34" charset="0"/>
              </a:rPr>
              <a:t>        └────────┬────────┘</a:t>
            </a:r>
          </a:p>
          <a:p>
            <a:pPr algn="just"/>
            <a:r>
              <a:rPr lang="en-US" sz="1000" b="1" dirty="0">
                <a:latin typeface="Arial" pitchFamily="34" charset="0"/>
                <a:cs typeface="Arial" pitchFamily="34" charset="0"/>
              </a:rPr>
              <a:t>                 ↓</a:t>
            </a:r>
          </a:p>
          <a:p>
            <a:pPr algn="just"/>
            <a:r>
              <a:rPr lang="en-US" sz="1000" b="1" dirty="0">
                <a:latin typeface="Arial" pitchFamily="34" charset="0"/>
                <a:cs typeface="Arial" pitchFamily="34" charset="0"/>
              </a:rPr>
              <a:t>       PAGE + FORM METADATA</a:t>
            </a:r>
          </a:p>
          <a:p>
            <a:pPr algn="just"/>
            <a:r>
              <a:rPr lang="en-US" sz="1000" b="1" dirty="0">
                <a:latin typeface="Arial" pitchFamily="34" charset="0"/>
                <a:cs typeface="Arial" pitchFamily="34" charset="0"/>
              </a:rPr>
              <a:t>                 ↓</a:t>
            </a:r>
          </a:p>
          <a:p>
            <a:pPr algn="just"/>
            <a:r>
              <a:rPr lang="en-US" sz="1000" b="1" dirty="0">
                <a:latin typeface="Arial" pitchFamily="34" charset="0"/>
                <a:cs typeface="Arial" pitchFamily="34" charset="0"/>
              </a:rPr>
              <a:t>        ┌─────────────────┐</a:t>
            </a:r>
          </a:p>
          <a:p>
            <a:pPr algn="just"/>
            <a:r>
              <a:rPr lang="en-US" sz="1000" b="1" dirty="0">
                <a:latin typeface="Arial" pitchFamily="34" charset="0"/>
                <a:cs typeface="Arial" pitchFamily="34" charset="0"/>
              </a:rPr>
              <a:t>        │   RISK ENGINE   │</a:t>
            </a:r>
          </a:p>
          <a:p>
            <a:pPr algn="just"/>
            <a:r>
              <a:rPr lang="en-US" sz="1000" b="1" dirty="0">
                <a:latin typeface="Arial" pitchFamily="34" charset="0"/>
                <a:cs typeface="Arial" pitchFamily="34" charset="0"/>
              </a:rPr>
              <a:t>        └────────┬────────┘</a:t>
            </a:r>
          </a:p>
          <a:p>
            <a:pPr algn="just"/>
            <a:r>
              <a:rPr lang="en-US" sz="1000" b="1" dirty="0">
                <a:latin typeface="Arial" pitchFamily="34" charset="0"/>
                <a:cs typeface="Arial" pitchFamily="34" charset="0"/>
              </a:rPr>
              <a:t>                 ↓</a:t>
            </a:r>
          </a:p>
          <a:p>
            <a:pPr algn="just"/>
            <a:r>
              <a:rPr lang="en-US" sz="1000" b="1" dirty="0">
                <a:latin typeface="Arial" pitchFamily="34" charset="0"/>
                <a:cs typeface="Arial" pitchFamily="34" charset="0"/>
              </a:rPr>
              <a:t>        PRIVACY EXPOSURE SCORE</a:t>
            </a:r>
          </a:p>
          <a:p>
            <a:pPr algn="just"/>
            <a:r>
              <a:rPr lang="en-US" sz="1000" b="1" dirty="0">
                <a:latin typeface="Arial" pitchFamily="34" charset="0"/>
                <a:cs typeface="Arial" pitchFamily="34" charset="0"/>
              </a:rPr>
              <a:t>                 ↓</a:t>
            </a:r>
          </a:p>
          <a:p>
            <a:pPr algn="just"/>
            <a:r>
              <a:rPr lang="en-US" sz="1000" b="1" dirty="0">
                <a:latin typeface="Arial" pitchFamily="34" charset="0"/>
                <a:cs typeface="Arial" pitchFamily="34" charset="0"/>
              </a:rPr>
              <a:t>        ┌─────────────────┐</a:t>
            </a:r>
          </a:p>
          <a:p>
            <a:pPr algn="just"/>
            <a:r>
              <a:rPr lang="en-US" sz="1000" b="1" dirty="0">
                <a:latin typeface="Arial" pitchFamily="34" charset="0"/>
                <a:cs typeface="Arial" pitchFamily="34" charset="0"/>
              </a:rPr>
              <a:t>        │ PRIVACY GUARD   │</a:t>
            </a:r>
          </a:p>
          <a:p>
            <a:pPr algn="just"/>
            <a:r>
              <a:rPr lang="en-US" sz="1000" b="1" dirty="0">
                <a:latin typeface="Arial" pitchFamily="34" charset="0"/>
                <a:cs typeface="Arial" pitchFamily="34" charset="0"/>
              </a:rPr>
              <a:t>        └────────┬────────┘</a:t>
            </a:r>
          </a:p>
          <a:p>
            <a:pPr algn="just"/>
            <a:r>
              <a:rPr lang="en-US" sz="1000" b="1" dirty="0">
                <a:latin typeface="Arial" pitchFamily="34" charset="0"/>
                <a:cs typeface="Arial" pitchFamily="34" charset="0"/>
              </a:rPr>
              <a:t>                 ↓</a:t>
            </a:r>
          </a:p>
          <a:p>
            <a:pPr algn="just"/>
            <a:r>
              <a:rPr lang="en-US" sz="1000" b="1" dirty="0">
                <a:latin typeface="Arial" pitchFamily="34" charset="0"/>
                <a:cs typeface="Arial" pitchFamily="34" charset="0"/>
              </a:rPr>
              <a:t>       PRE-SUBMISSION WARNING</a:t>
            </a:r>
          </a:p>
          <a:p>
            <a:pPr algn="just"/>
            <a:r>
              <a:rPr lang="en-US" sz="1000" b="1" dirty="0">
                <a:latin typeface="Arial" pitchFamily="34" charset="0"/>
                <a:cs typeface="Arial" pitchFamily="34" charset="0"/>
              </a:rPr>
              <a:t>                 ↓</a:t>
            </a:r>
          </a:p>
          <a:p>
            <a:pPr algn="just"/>
            <a:r>
              <a:rPr lang="en-US" sz="1000" b="1" dirty="0">
                <a:latin typeface="Arial" pitchFamily="34" charset="0"/>
                <a:cs typeface="Arial" pitchFamily="34" charset="0"/>
              </a:rPr>
              <a:t>        ┌─────────────────┐</a:t>
            </a:r>
          </a:p>
          <a:p>
            <a:pPr algn="just"/>
            <a:r>
              <a:rPr lang="en-US" sz="1000" b="1" dirty="0">
                <a:latin typeface="Arial" pitchFamily="34" charset="0"/>
                <a:cs typeface="Arial" pitchFamily="34" charset="0"/>
              </a:rPr>
              <a:t>        │   DASHBOARD     │</a:t>
            </a:r>
          </a:p>
          <a:p>
            <a:pPr algn="just"/>
            <a:r>
              <a:rPr lang="en-US" sz="1000" b="1" dirty="0">
                <a:latin typeface="Arial" pitchFamily="34" charset="0"/>
                <a:cs typeface="Arial" pitchFamily="34" charset="0"/>
              </a:rPr>
              <a:t>        └────────┬────────┘</a:t>
            </a:r>
          </a:p>
          <a:p>
            <a:pPr algn="just"/>
            <a:r>
              <a:rPr lang="en-US" sz="1000" b="1" dirty="0">
                <a:latin typeface="Arial" pitchFamily="34" charset="0"/>
                <a:cs typeface="Arial" pitchFamily="34" charset="0"/>
              </a:rPr>
              <a:t>                 ↓</a:t>
            </a:r>
          </a:p>
          <a:p>
            <a:pPr algn="just"/>
            <a:r>
              <a:rPr lang="en-US" sz="1000" b="1" dirty="0">
                <a:latin typeface="Arial" pitchFamily="34" charset="0"/>
                <a:cs typeface="Arial" pitchFamily="34" charset="0"/>
              </a:rPr>
              <a:t>       TIMELINE + INSIGHTS</a:t>
            </a:r>
            <a:endParaRPr lang="en-US" sz="1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43369"/>
            <a:ext cx="1543415" cy="85200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BroCode</a:t>
            </a:r>
            <a:endParaRPr lang="en-IN" sz="1600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614208"/>
              </p:ext>
            </p:extLst>
          </p:nvPr>
        </p:nvGraphicFramePr>
        <p:xfrm>
          <a:off x="4168140" y="3261359"/>
          <a:ext cx="6324600" cy="2477419"/>
        </p:xfrm>
        <a:graphic>
          <a:graphicData uri="http://schemas.openxmlformats.org/drawingml/2006/table">
            <a:tbl>
              <a:tblPr/>
              <a:tblGrid>
                <a:gridCol w="3162300">
                  <a:extLst>
                    <a:ext uri="{9D8B030D-6E8A-4147-A177-3AD203B41FA5}">
                      <a16:colId xmlns:a16="http://schemas.microsoft.com/office/drawing/2014/main" val="3245191064"/>
                    </a:ext>
                  </a:extLst>
                </a:gridCol>
                <a:gridCol w="3162300">
                  <a:extLst>
                    <a:ext uri="{9D8B030D-6E8A-4147-A177-3AD203B41FA5}">
                      <a16:colId xmlns:a16="http://schemas.microsoft.com/office/drawing/2014/main" val="3749148545"/>
                    </a:ext>
                  </a:extLst>
                </a:gridCol>
              </a:tblGrid>
              <a:tr h="353917">
                <a:tc>
                  <a:txBody>
                    <a:bodyPr/>
                    <a:lstStyle/>
                    <a:p>
                      <a:r>
                        <a:rPr lang="en-IN" sz="1400" b="1" dirty="0"/>
                        <a:t>Signal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Weight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332231"/>
                  </a:ext>
                </a:extLst>
              </a:tr>
              <a:tr h="353917">
                <a:tc>
                  <a:txBody>
                    <a:bodyPr/>
                    <a:lstStyle/>
                    <a:p>
                      <a:r>
                        <a:rPr lang="en-IN" sz="1400" b="1" dirty="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+5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4572347"/>
                  </a:ext>
                </a:extLst>
              </a:tr>
              <a:tr h="353917">
                <a:tc>
                  <a:txBody>
                    <a:bodyPr/>
                    <a:lstStyle/>
                    <a:p>
                      <a:r>
                        <a:rPr lang="en-IN" sz="1400" b="1"/>
                        <a:t>Email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+10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0451980"/>
                  </a:ext>
                </a:extLst>
              </a:tr>
              <a:tr h="353917">
                <a:tc>
                  <a:txBody>
                    <a:bodyPr/>
                    <a:lstStyle/>
                    <a:p>
                      <a:r>
                        <a:rPr lang="en-IN" sz="1400" b="1"/>
                        <a:t>Phone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+15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9491404"/>
                  </a:ext>
                </a:extLst>
              </a:tr>
              <a:tr h="353917">
                <a:tc>
                  <a:txBody>
                    <a:bodyPr/>
                    <a:lstStyle/>
                    <a:p>
                      <a:r>
                        <a:rPr lang="en-IN" sz="1400" b="1"/>
                        <a:t>Address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+20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0125203"/>
                  </a:ext>
                </a:extLst>
              </a:tr>
              <a:tr h="353917">
                <a:tc>
                  <a:txBody>
                    <a:bodyPr/>
                    <a:lstStyle/>
                    <a:p>
                      <a:r>
                        <a:rPr lang="en-IN" sz="1400" b="1"/>
                        <a:t>Personal 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+10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4575556"/>
                  </a:ext>
                </a:extLst>
              </a:tr>
              <a:tr h="353917">
                <a:tc>
                  <a:txBody>
                    <a:bodyPr/>
                    <a:lstStyle/>
                    <a:p>
                      <a:r>
                        <a:rPr lang="en-IN" sz="1400" b="1"/>
                        <a:t>Password Field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+10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310505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458598" y="1288132"/>
            <a:ext cx="387768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b="1" dirty="0"/>
              <a:t>Technologies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JavaScript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HTML / CSS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Chrome Extension – Manifest V3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Chrome Storage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 err="1"/>
              <a:t>FastAPI</a:t>
            </a:r>
            <a:r>
              <a:rPr lang="en-IN" sz="1600" dirty="0"/>
              <a:t> + </a:t>
            </a:r>
            <a:r>
              <a:rPr lang="en-IN" sz="1600" dirty="0" err="1"/>
              <a:t>Uvicorn</a:t>
            </a:r>
            <a:r>
              <a:rPr lang="en-IN" sz="16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Browser-native scripting APIs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10190" y="243100"/>
            <a:ext cx="1410250" cy="852007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BroCode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876300" y="1543318"/>
            <a:ext cx="736854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b="1" dirty="0"/>
              <a:t>Why it is feasible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Browser extension architecture already implemented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Local webpage/form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Rule-based and explainable risk engine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Local metadata storage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Existing Privacy Guard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Existing dashboard and timeline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Lightweight </a:t>
            </a:r>
            <a:r>
              <a:rPr lang="en-IN" sz="1600" dirty="0" err="1"/>
              <a:t>FastAPI</a:t>
            </a:r>
            <a:r>
              <a:rPr lang="en-IN" sz="1600" dirty="0"/>
              <a:t> supporting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046" y="3712339"/>
            <a:ext cx="733806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dirty="0"/>
              <a:t>Challenges</a:t>
            </a:r>
          </a:p>
          <a:p>
            <a:r>
              <a:rPr lang="en-GB" sz="1600" b="1" dirty="0"/>
              <a:t>1. False positives</a:t>
            </a:r>
            <a:r>
              <a:rPr lang="en-GB" sz="1600" dirty="0"/>
              <a:t/>
            </a:r>
            <a:br>
              <a:rPr lang="en-GB" sz="1600" dirty="0"/>
            </a:br>
            <a:r>
              <a:rPr lang="en-GB" sz="1600" dirty="0"/>
              <a:t>Some fields may be incorrectly classified.</a:t>
            </a:r>
          </a:p>
          <a:p>
            <a:r>
              <a:rPr lang="en-GB" sz="1600" b="1" dirty="0"/>
              <a:t>2. Different webpage structures</a:t>
            </a:r>
            <a:r>
              <a:rPr lang="en-GB" sz="1600" dirty="0"/>
              <a:t/>
            </a:r>
            <a:br>
              <a:rPr lang="en-GB" sz="1600" dirty="0"/>
            </a:br>
            <a:r>
              <a:rPr lang="en-GB" sz="1600" dirty="0"/>
              <a:t>Websites use different field names and layouts.</a:t>
            </a:r>
          </a:p>
          <a:p>
            <a:r>
              <a:rPr lang="en-GB" sz="1600" b="1" dirty="0"/>
              <a:t>3. Privacy concerns</a:t>
            </a:r>
            <a:r>
              <a:rPr lang="en-GB" sz="1600" dirty="0"/>
              <a:t/>
            </a:r>
            <a:br>
              <a:rPr lang="en-GB" sz="1600" dirty="0"/>
            </a:br>
            <a:r>
              <a:rPr lang="en-GB" sz="1600" dirty="0"/>
              <a:t>The protection tool itself must not become a source of data collection.</a:t>
            </a:r>
          </a:p>
          <a:p>
            <a:r>
              <a:rPr lang="en-GB" sz="1600" b="1" dirty="0"/>
              <a:t>4. Dynamic websites</a:t>
            </a:r>
            <a:r>
              <a:rPr lang="en-GB" sz="1600" dirty="0"/>
              <a:t/>
            </a:r>
            <a:br>
              <a:rPr lang="en-GB" sz="1600" dirty="0"/>
            </a:br>
            <a:r>
              <a:rPr lang="en-GB" sz="1600" dirty="0"/>
              <a:t>Forms can change after the page loads.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39249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BroCode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771420" y="2010597"/>
            <a:ext cx="604848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b="1" dirty="0"/>
              <a:t>Impact</a:t>
            </a:r>
          </a:p>
          <a:p>
            <a:r>
              <a:rPr lang="en-IN" sz="1600" b="1" dirty="0"/>
              <a:t>For users</a:t>
            </a:r>
          </a:p>
          <a:p>
            <a:r>
              <a:rPr lang="en-IN" sz="1600" dirty="0"/>
              <a:t>🛡️ </a:t>
            </a:r>
            <a:r>
              <a:rPr lang="en-IN" sz="1600" b="1" dirty="0"/>
              <a:t>Proactive Privacy Protection</a:t>
            </a:r>
            <a:r>
              <a:rPr lang="en-IN" sz="1600" dirty="0"/>
              <a:t/>
            </a:r>
            <a:br>
              <a:rPr lang="en-IN" sz="1600" dirty="0"/>
            </a:br>
            <a:r>
              <a:rPr lang="en-IN" sz="1600" dirty="0"/>
              <a:t>Warns users before sensitive information is submitted</a:t>
            </a:r>
            <a:r>
              <a:rPr lang="en-IN" sz="1600" dirty="0" smtClean="0"/>
              <a:t>.</a:t>
            </a:r>
          </a:p>
          <a:p>
            <a:endParaRPr lang="en-IN" sz="1600" dirty="0"/>
          </a:p>
          <a:p>
            <a:r>
              <a:rPr lang="en-IN" sz="1600" dirty="0"/>
              <a:t>📊 </a:t>
            </a:r>
            <a:r>
              <a:rPr lang="en-IN" sz="1600" b="1" dirty="0"/>
              <a:t>Privacy Awareness</a:t>
            </a:r>
            <a:r>
              <a:rPr lang="en-IN" sz="1600" dirty="0"/>
              <a:t/>
            </a:r>
            <a:br>
              <a:rPr lang="en-IN" sz="1600" dirty="0"/>
            </a:br>
            <a:r>
              <a:rPr lang="en-IN" sz="1600" dirty="0"/>
              <a:t>Makes information requests easier to understand</a:t>
            </a:r>
            <a:r>
              <a:rPr lang="en-IN" sz="1600" dirty="0" smtClean="0"/>
              <a:t>.</a:t>
            </a:r>
          </a:p>
          <a:p>
            <a:endParaRPr lang="en-IN" sz="1600" dirty="0"/>
          </a:p>
          <a:p>
            <a:r>
              <a:rPr lang="en-IN" sz="1600" dirty="0"/>
              <a:t>📈 </a:t>
            </a:r>
            <a:r>
              <a:rPr lang="en-IN" sz="1600" b="1" dirty="0"/>
              <a:t>Exposure Awareness Over Time</a:t>
            </a:r>
            <a:r>
              <a:rPr lang="en-IN" sz="1600" dirty="0"/>
              <a:t/>
            </a:r>
            <a:br>
              <a:rPr lang="en-IN" sz="1600" dirty="0"/>
            </a:br>
            <a:r>
              <a:rPr lang="en-IN" sz="1600" dirty="0"/>
              <a:t>Shows patterns through the Personal Exposure Timeline</a:t>
            </a:r>
            <a:r>
              <a:rPr lang="en-IN" sz="1600" dirty="0" smtClean="0"/>
              <a:t>.</a:t>
            </a:r>
          </a:p>
          <a:p>
            <a:endParaRPr lang="en-IN" sz="1600" dirty="0"/>
          </a:p>
          <a:p>
            <a:r>
              <a:rPr lang="en-IN" sz="1600" dirty="0"/>
              <a:t>💡 </a:t>
            </a:r>
            <a:r>
              <a:rPr lang="en-IN" sz="1600" b="1" dirty="0"/>
              <a:t>Actionable Recommendations</a:t>
            </a:r>
            <a:r>
              <a:rPr lang="en-IN" sz="1600" dirty="0"/>
              <a:t/>
            </a:r>
            <a:br>
              <a:rPr lang="en-IN" sz="1600" dirty="0"/>
            </a:br>
            <a:r>
              <a:rPr lang="en-IN" sz="1600" dirty="0"/>
              <a:t>Helps users decide whether requested information is necessary</a:t>
            </a:r>
            <a:r>
              <a:rPr lang="en-IN" sz="1600" dirty="0" smtClean="0"/>
              <a:t>.</a:t>
            </a:r>
          </a:p>
          <a:p>
            <a:endParaRPr lang="en-IN" sz="1600" dirty="0"/>
          </a:p>
          <a:p>
            <a:r>
              <a:rPr lang="en-IN" sz="1600" dirty="0"/>
              <a:t>🔒 </a:t>
            </a:r>
            <a:r>
              <a:rPr lang="en-IN" sz="1600" b="1" dirty="0"/>
              <a:t>Privacy by Design</a:t>
            </a:r>
            <a:r>
              <a:rPr lang="en-IN" sz="1600" dirty="0"/>
              <a:t/>
            </a:r>
            <a:br>
              <a:rPr lang="en-IN" sz="1600" dirty="0"/>
            </a:br>
            <a:r>
              <a:rPr lang="en-IN" sz="1600" dirty="0"/>
              <a:t>Sensitive values remain outside </a:t>
            </a:r>
            <a:r>
              <a:rPr lang="en-IN" sz="1600" dirty="0" err="1"/>
              <a:t>LockLens's</a:t>
            </a:r>
            <a:r>
              <a:rPr lang="en-IN" sz="1600" dirty="0"/>
              <a:t> stored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2656353" y="1484409"/>
            <a:ext cx="75044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b="1" dirty="0" err="1"/>
              <a:t>LockLens</a:t>
            </a:r>
            <a:r>
              <a:rPr lang="en-GB" b="1" dirty="0"/>
              <a:t> transforms privacy from something users discover after exposure into something they can understand and consider before sharing.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46351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BroCode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153556" y="1358316"/>
            <a:ext cx="494244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Prototype validation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controlled test forms: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🟢 Low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🟡 Moderate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Email + Phone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🟠 Higher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 + Email + Phone + Address + Password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Detection accuracy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Risk-score calculation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Privacy Guard warning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Timeline update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62628" y="1446014"/>
            <a:ext cx="27918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/>
              <a:t>Future SIH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62628" y="2165985"/>
            <a:ext cx="435102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 smtClean="0"/>
              <a:t>Improved </a:t>
            </a:r>
            <a:r>
              <a:rPr lang="en-IN" dirty="0"/>
              <a:t>detection accuracy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Better context-aware risk assessment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Reduced false positives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Richer digital-footprint insights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Smarter privacy recommendations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Production-level hardening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999" y="4367078"/>
            <a:ext cx="53263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LOCKLENS</a:t>
            </a:r>
          </a:p>
          <a:p>
            <a:r>
              <a:rPr lang="en-GB" sz="2400" b="1" dirty="0"/>
              <a:t>DETECT → WARN → ASSESS → TRACK</a:t>
            </a:r>
          </a:p>
          <a:p>
            <a:r>
              <a:rPr lang="en-GB" sz="2400" b="1" dirty="0"/>
              <a:t>Your Privacy. Under Your Control.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7521</TotalTime>
  <Words>426</Words>
  <Application>Microsoft Office PowerPoint</Application>
  <PresentationFormat>Widescreen</PresentationFormat>
  <Paragraphs>145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MS PGothic</vt:lpstr>
      <vt:lpstr>Arial</vt:lpstr>
      <vt:lpstr>Arial Unicode MS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Kamal Saini</cp:lastModifiedBy>
  <cp:revision>151</cp:revision>
  <dcterms:created xsi:type="dcterms:W3CDTF">2013-12-12T18:46:50Z</dcterms:created>
  <dcterms:modified xsi:type="dcterms:W3CDTF">2026-09-01T04:52:24Z</dcterms:modified>
  <cp:category/>
</cp:coreProperties>
</file>